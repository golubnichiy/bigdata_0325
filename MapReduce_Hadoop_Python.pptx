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0"/>
    <p:restoredTop sz="94694"/>
  </p:normalViewPr>
  <p:slideViewPr>
    <p:cSldViewPr snapToGrid="0" snapToObjects="1">
      <p:cViewPr>
        <p:scale>
          <a:sx n="72" d="100"/>
          <a:sy n="72" d="100"/>
        </p:scale>
        <p:origin x="1824" y="11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78224"/>
            <a:ext cx="10972800" cy="3154362"/>
          </a:xfrm>
        </p:spPr>
        <p:txBody>
          <a:bodyPr>
            <a:normAutofit/>
          </a:bodyPr>
          <a:lstStyle/>
          <a:p>
            <a:r>
              <a:rPr dirty="0"/>
              <a:t>MapReduce-</a:t>
            </a:r>
            <a:r>
              <a:rPr lang="en-US" dirty="0"/>
              <a:t>job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Python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использованием</a:t>
            </a:r>
            <a:r>
              <a:rPr dirty="0"/>
              <a:t> Hadoop Streaming</a:t>
            </a:r>
            <a:br>
              <a:rPr lang="en-US" dirty="0"/>
            </a:br>
            <a:r>
              <a:rPr lang="ru-RU" sz="2800" dirty="0"/>
              <a:t>Специалист по большим данным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Введение</a:t>
            </a:r>
            <a:r>
              <a:rPr b="1" dirty="0"/>
              <a:t> </a:t>
            </a:r>
            <a:r>
              <a:rPr b="1" dirty="0" err="1"/>
              <a:t>в</a:t>
            </a:r>
            <a:r>
              <a:rPr b="1" dirty="0"/>
              <a:t>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4285129" cy="4525963"/>
          </a:xfrm>
        </p:spPr>
        <p:txBody>
          <a:bodyPr>
            <a:normAutofit/>
          </a:bodyPr>
          <a:lstStyle/>
          <a:p>
            <a:r>
              <a:rPr sz="2400" dirty="0" err="1"/>
              <a:t>Модель</a:t>
            </a:r>
            <a:r>
              <a:rPr sz="2400" dirty="0"/>
              <a:t> </a:t>
            </a:r>
            <a:r>
              <a:rPr sz="2400" dirty="0" err="1"/>
              <a:t>программирования</a:t>
            </a:r>
            <a:r>
              <a:rPr sz="2400" dirty="0"/>
              <a:t>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обработки</a:t>
            </a:r>
            <a:r>
              <a:rPr sz="2400" dirty="0"/>
              <a:t> </a:t>
            </a:r>
            <a:r>
              <a:rPr sz="2400" dirty="0" err="1"/>
              <a:t>больших</a:t>
            </a:r>
            <a:r>
              <a:rPr sz="2400" dirty="0"/>
              <a:t> </a:t>
            </a:r>
            <a:r>
              <a:rPr sz="2400" dirty="0" err="1"/>
              <a:t>объемов</a:t>
            </a:r>
            <a:r>
              <a:rPr sz="2400" dirty="0"/>
              <a:t> </a:t>
            </a:r>
            <a:r>
              <a:rPr sz="2400" dirty="0" err="1"/>
              <a:t>данных</a:t>
            </a:r>
            <a:endParaRPr sz="2400" dirty="0"/>
          </a:p>
          <a:p>
            <a:r>
              <a:rPr sz="2400" dirty="0" err="1"/>
              <a:t>Разделение</a:t>
            </a:r>
            <a:r>
              <a:rPr sz="2400" dirty="0"/>
              <a:t> </a:t>
            </a:r>
            <a:r>
              <a:rPr sz="2400" dirty="0" err="1"/>
              <a:t>на</a:t>
            </a:r>
            <a:r>
              <a:rPr sz="2400" dirty="0"/>
              <a:t> </a:t>
            </a:r>
            <a:r>
              <a:rPr sz="2400" dirty="0" err="1"/>
              <a:t>этапы</a:t>
            </a:r>
            <a:r>
              <a:rPr sz="2400" dirty="0"/>
              <a:t>: Map </a:t>
            </a:r>
            <a:r>
              <a:rPr sz="2400" dirty="0" err="1"/>
              <a:t>и</a:t>
            </a:r>
            <a:r>
              <a:rPr sz="2400" dirty="0"/>
              <a:t> Reduce</a:t>
            </a:r>
          </a:p>
          <a:p>
            <a:r>
              <a:rPr sz="2400" dirty="0" err="1"/>
              <a:t>Подходит</a:t>
            </a:r>
            <a:r>
              <a:rPr sz="2400" dirty="0"/>
              <a:t>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параллельных</a:t>
            </a:r>
            <a:r>
              <a:rPr sz="2400" dirty="0"/>
              <a:t> </a:t>
            </a:r>
            <a:r>
              <a:rPr sz="2400" dirty="0" err="1"/>
              <a:t>вычислений</a:t>
            </a:r>
            <a:endParaRPr sz="2400" dirty="0"/>
          </a:p>
        </p:txBody>
      </p:sp>
      <p:pic>
        <p:nvPicPr>
          <p:cNvPr id="1026" name="Picture 2" descr="Что такое MapReduce: принципы работы главной технологии Big Data">
            <a:extLst>
              <a:ext uri="{FF2B5EF4-FFF2-40B4-BE49-F238E27FC236}">
                <a16:creationId xmlns:a16="http://schemas.microsoft.com/office/drawing/2014/main" id="{E1B19DCF-B6AF-8902-2FDE-B8504E0F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312" y="1417638"/>
            <a:ext cx="591820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Hadoop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Утилита</a:t>
            </a:r>
            <a:r>
              <a:rPr sz="2400" dirty="0"/>
              <a:t> Hadoop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взаимодействия</a:t>
            </a:r>
            <a:r>
              <a:rPr sz="2400" dirty="0"/>
              <a:t> </a:t>
            </a:r>
            <a:r>
              <a:rPr sz="2400" dirty="0" err="1"/>
              <a:t>с</a:t>
            </a:r>
            <a:r>
              <a:rPr sz="2400" dirty="0"/>
              <a:t> MapReduce </a:t>
            </a:r>
            <a:r>
              <a:rPr sz="2400" dirty="0" err="1"/>
              <a:t>через</a:t>
            </a:r>
            <a:r>
              <a:rPr sz="2400" dirty="0"/>
              <a:t> stdin/</a:t>
            </a:r>
            <a:r>
              <a:rPr sz="2400" dirty="0" err="1"/>
              <a:t>stdout</a:t>
            </a:r>
            <a:endParaRPr sz="2400" dirty="0"/>
          </a:p>
          <a:p>
            <a:r>
              <a:rPr sz="2400" dirty="0" err="1"/>
              <a:t>Позволяет</a:t>
            </a:r>
            <a:r>
              <a:rPr sz="2400" dirty="0"/>
              <a:t> </a:t>
            </a:r>
            <a:r>
              <a:rPr sz="2400" dirty="0" err="1"/>
              <a:t>использовать</a:t>
            </a:r>
            <a:r>
              <a:rPr sz="2400" dirty="0"/>
              <a:t> Python</a:t>
            </a:r>
          </a:p>
          <a:p>
            <a:r>
              <a:rPr sz="2400" dirty="0" err="1"/>
              <a:t>Работает</a:t>
            </a:r>
            <a:r>
              <a:rPr sz="2400" dirty="0"/>
              <a:t> </a:t>
            </a:r>
            <a:r>
              <a:rPr sz="2400" dirty="0" err="1"/>
              <a:t>со</a:t>
            </a:r>
            <a:r>
              <a:rPr sz="2400" dirty="0"/>
              <a:t> </a:t>
            </a:r>
            <a:r>
              <a:rPr sz="2400" dirty="0" err="1"/>
              <a:t>скриптами</a:t>
            </a:r>
            <a:r>
              <a:rPr sz="2400" dirty="0"/>
              <a:t> mapper </a:t>
            </a:r>
            <a:r>
              <a:rPr sz="2400" dirty="0" err="1"/>
              <a:t>и</a:t>
            </a:r>
            <a:r>
              <a:rPr sz="2400" dirty="0"/>
              <a:t> reducer</a:t>
            </a:r>
          </a:p>
        </p:txBody>
      </p:sp>
      <p:pic>
        <p:nvPicPr>
          <p:cNvPr id="2050" name="Picture 2" descr="What is Hadoop Streaming? | GeeksforGeeks">
            <a:extLst>
              <a:ext uri="{FF2B5EF4-FFF2-40B4-BE49-F238E27FC236}">
                <a16:creationId xmlns:a16="http://schemas.microsoft.com/office/drawing/2014/main" id="{6FD82935-8B3F-3A73-7FAD-867995DB09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50" b="12219"/>
          <a:stretch/>
        </p:blipFill>
        <p:spPr bwMode="auto">
          <a:xfrm>
            <a:off x="0" y="3729317"/>
            <a:ext cx="12192000" cy="272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Общая</a:t>
            </a:r>
            <a:r>
              <a:rPr b="1" dirty="0"/>
              <a:t> </a:t>
            </a:r>
            <a:r>
              <a:rPr b="1" dirty="0" err="1"/>
              <a:t>схема</a:t>
            </a:r>
            <a:r>
              <a:rPr b="1" dirty="0"/>
              <a:t> </a:t>
            </a:r>
            <a:r>
              <a:rPr b="1" dirty="0" err="1"/>
              <a:t>работы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1. </a:t>
            </a:r>
            <a:r>
              <a:rPr sz="2400" dirty="0" err="1"/>
              <a:t>Загрузка</a:t>
            </a:r>
            <a:r>
              <a:rPr sz="2400" dirty="0"/>
              <a:t> </a:t>
            </a:r>
            <a:r>
              <a:rPr sz="2400" dirty="0" err="1"/>
              <a:t>данных</a:t>
            </a:r>
            <a:r>
              <a:rPr sz="2400" dirty="0"/>
              <a:t> </a:t>
            </a:r>
            <a:r>
              <a:rPr sz="2400" dirty="0" err="1"/>
              <a:t>в</a:t>
            </a:r>
            <a:r>
              <a:rPr sz="2400" dirty="0"/>
              <a:t> HDFS</a:t>
            </a:r>
          </a:p>
          <a:p>
            <a:pPr marL="0" indent="0">
              <a:buNone/>
            </a:pPr>
            <a:r>
              <a:rPr sz="2400" dirty="0"/>
              <a:t>2. </a:t>
            </a:r>
            <a:r>
              <a:rPr sz="2400" dirty="0" err="1"/>
              <a:t>Запуск</a:t>
            </a:r>
            <a:r>
              <a:rPr sz="2400" dirty="0"/>
              <a:t> </a:t>
            </a:r>
            <a:r>
              <a:rPr sz="2400" dirty="0" err="1"/>
              <a:t>через</a:t>
            </a:r>
            <a:r>
              <a:rPr sz="2400" dirty="0"/>
              <a:t> </a:t>
            </a:r>
            <a:r>
              <a:rPr sz="2400" dirty="0" err="1"/>
              <a:t>hadoop-streaming.jar</a:t>
            </a:r>
            <a:endParaRPr sz="2400" dirty="0"/>
          </a:p>
          <a:p>
            <a:pPr marL="0" indent="0">
              <a:buNone/>
            </a:pPr>
            <a:r>
              <a:rPr sz="2400" dirty="0"/>
              <a:t>3. Mapper/Reducer </a:t>
            </a:r>
            <a:r>
              <a:rPr sz="2400" dirty="0" err="1"/>
              <a:t>через</a:t>
            </a:r>
            <a:r>
              <a:rPr sz="2400" dirty="0"/>
              <a:t> stdin/</a:t>
            </a:r>
            <a:r>
              <a:rPr sz="2400" dirty="0" err="1"/>
              <a:t>stdout</a:t>
            </a:r>
            <a:endParaRPr sz="2400" dirty="0"/>
          </a:p>
          <a:p>
            <a:pPr marL="0" indent="0">
              <a:buNone/>
            </a:pPr>
            <a:r>
              <a:rPr sz="2400" dirty="0"/>
              <a:t>4. </a:t>
            </a:r>
            <a:r>
              <a:rPr sz="2400" dirty="0" err="1"/>
              <a:t>Результат</a:t>
            </a:r>
            <a:r>
              <a:rPr sz="2400" dirty="0"/>
              <a:t> </a:t>
            </a:r>
            <a:r>
              <a:rPr sz="2400" dirty="0" err="1"/>
              <a:t>в</a:t>
            </a:r>
            <a:r>
              <a:rPr sz="2400" dirty="0"/>
              <a:t> HDFS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задачи — Подсчет слов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/>
              <a:t>Цель</a:t>
            </a:r>
            <a:r>
              <a:rPr sz="2400" dirty="0"/>
              <a:t>: </a:t>
            </a:r>
            <a:r>
              <a:rPr sz="2400" dirty="0" err="1"/>
              <a:t>Подсчитать</a:t>
            </a:r>
            <a:r>
              <a:rPr sz="2400" dirty="0"/>
              <a:t> </a:t>
            </a:r>
            <a:r>
              <a:rPr sz="2400" dirty="0" err="1"/>
              <a:t>количество</a:t>
            </a:r>
            <a:r>
              <a:rPr sz="2400" dirty="0"/>
              <a:t> </a:t>
            </a:r>
            <a:r>
              <a:rPr sz="2400" dirty="0" err="1"/>
              <a:t>слов</a:t>
            </a:r>
            <a:endParaRPr sz="2400" dirty="0"/>
          </a:p>
          <a:p>
            <a:r>
              <a:rPr sz="2400" dirty="0"/>
              <a:t>Mapper: </a:t>
            </a:r>
            <a:r>
              <a:rPr sz="2400" dirty="0" err="1"/>
              <a:t>слово</a:t>
            </a:r>
            <a:r>
              <a:rPr lang="ru-RU" sz="2400" dirty="0"/>
              <a:t>	</a:t>
            </a:r>
            <a:r>
              <a:rPr sz="2400" dirty="0"/>
              <a:t>1</a:t>
            </a:r>
          </a:p>
          <a:p>
            <a:r>
              <a:rPr sz="2400" dirty="0"/>
              <a:t>Reducer: </a:t>
            </a:r>
            <a:r>
              <a:rPr sz="2400" dirty="0" err="1"/>
              <a:t>суммирует</a:t>
            </a:r>
            <a:r>
              <a:rPr sz="2400" dirty="0"/>
              <a:t> </a:t>
            </a:r>
            <a:r>
              <a:rPr sz="2400" dirty="0" err="1"/>
              <a:t>по</a:t>
            </a:r>
            <a:r>
              <a:rPr sz="2400" dirty="0"/>
              <a:t> </a:t>
            </a:r>
            <a:r>
              <a:rPr sz="2400" dirty="0" err="1"/>
              <a:t>словам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Пример: mapper.py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#!/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/bin/env python3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import sys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for line in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sys.stdin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  words =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line.strip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().split()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  for word in words: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      print(f"{word}\t1")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871" y="0"/>
            <a:ext cx="5809129" cy="731836"/>
          </a:xfrm>
        </p:spPr>
        <p:txBody>
          <a:bodyPr>
            <a:normAutofit fontScale="90000"/>
          </a:bodyPr>
          <a:lstStyle/>
          <a:p>
            <a:r>
              <a:rPr b="1" dirty="0" err="1"/>
              <a:t>Пример</a:t>
            </a:r>
            <a:r>
              <a:rPr b="1" dirty="0"/>
              <a:t>: </a:t>
            </a:r>
            <a:r>
              <a:rPr b="1" dirty="0" err="1"/>
              <a:t>reducer.py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502588" cy="70283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#!/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/bin/env python3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import sys</a:t>
            </a:r>
          </a:p>
          <a:p>
            <a:pPr marL="0" indent="0">
              <a:buNone/>
            </a:pP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= None</a:t>
            </a:r>
          </a:p>
          <a:p>
            <a:pPr marL="0" indent="0">
              <a:buNone/>
            </a:pP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current_count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for line in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sys.stdin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word, count =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line.strip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().split("\t")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count = int(count)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if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== word: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current_count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+= count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else: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    if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        print(f"{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}\t{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current_count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= word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current_count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= count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    print(f"{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current_word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}\t{</a:t>
            </a:r>
            <a:r>
              <a:rPr sz="2300" dirty="0" err="1">
                <a:latin typeface="Consolas" panose="020B0609020204030204" pitchFamily="49" charset="0"/>
                <a:cs typeface="Consolas" panose="020B0609020204030204" pitchFamily="49" charset="0"/>
              </a:rPr>
              <a:t>current_count</a:t>
            </a:r>
            <a:r>
              <a:rPr sz="2300" dirty="0">
                <a:latin typeface="Consolas" panose="020B0609020204030204" pitchFamily="49" charset="0"/>
                <a:cs typeface="Consolas" panose="020B0609020204030204" pitchFamily="49" charset="0"/>
              </a:rPr>
              <a:t>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Запуск</a:t>
            </a:r>
            <a:r>
              <a:rPr b="1" dirty="0"/>
              <a:t> </a:t>
            </a:r>
            <a:r>
              <a:rPr b="1" dirty="0" err="1"/>
              <a:t>джобы</a:t>
            </a:r>
            <a:r>
              <a:rPr b="1" dirty="0"/>
              <a:t> </a:t>
            </a:r>
            <a:r>
              <a:rPr b="1" dirty="0" err="1"/>
              <a:t>в</a:t>
            </a:r>
            <a:r>
              <a:rPr b="1" dirty="0"/>
              <a:t> Hadoop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hadoop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jar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hadoop-streaming.jar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-input /user/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логин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input.txt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-output /user/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логин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/output \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-mapper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mapper.py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-reducer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reducer.py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-file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mapper.py</a:t>
            </a: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</a:p>
          <a:p>
            <a:pPr marL="0" indent="0">
              <a:buNone/>
            </a:pPr>
            <a:r>
              <a:rPr sz="2400" dirty="0">
                <a:latin typeface="Consolas" panose="020B0609020204030204" pitchFamily="49" charset="0"/>
                <a:cs typeface="Consolas" panose="020B0609020204030204" pitchFamily="49" charset="0"/>
              </a:rPr>
              <a:t>  -file </a:t>
            </a:r>
            <a:r>
              <a:rPr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reducer.py</a:t>
            </a:r>
            <a:endParaRPr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Результат</a:t>
            </a:r>
            <a:r>
              <a:rPr b="1" dirty="0"/>
              <a:t> </a:t>
            </a:r>
            <a:r>
              <a:rPr b="1" dirty="0" err="1"/>
              <a:t>работы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Hadoop</a:t>
            </a:r>
            <a:r>
              <a:rPr lang="en-US" sz="2400" dirty="0"/>
              <a:t> 		</a:t>
            </a:r>
            <a:r>
              <a:rPr sz="2400" dirty="0"/>
              <a:t>3</a:t>
            </a:r>
          </a:p>
          <a:p>
            <a:pPr marL="0" indent="0">
              <a:buNone/>
            </a:pPr>
            <a:r>
              <a:rPr sz="2400" dirty="0"/>
              <a:t>MapReduce</a:t>
            </a:r>
            <a:r>
              <a:rPr lang="en-US" sz="2400" dirty="0"/>
              <a:t>	</a:t>
            </a:r>
            <a:r>
              <a:rPr sz="2400" dirty="0"/>
              <a:t>5</a:t>
            </a:r>
          </a:p>
          <a:p>
            <a:pPr marL="0" indent="0">
              <a:buNone/>
            </a:pPr>
            <a:r>
              <a:rPr sz="2400" dirty="0"/>
              <a:t>Python</a:t>
            </a:r>
            <a:r>
              <a:rPr lang="en-US" sz="2400" dirty="0"/>
              <a:t>		</a:t>
            </a:r>
            <a:r>
              <a:rPr lang="ru-RU" sz="2400" dirty="0"/>
              <a:t>	</a:t>
            </a:r>
            <a:r>
              <a:rPr sz="2400" dirty="0"/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Преимущества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Простота</a:t>
            </a:r>
            <a:r>
              <a:rPr sz="2400" dirty="0"/>
              <a:t> </a:t>
            </a:r>
            <a:r>
              <a:rPr sz="2400" dirty="0" err="1"/>
              <a:t>написания</a:t>
            </a:r>
            <a:r>
              <a:rPr sz="2400" dirty="0"/>
              <a:t> </a:t>
            </a:r>
            <a:r>
              <a:rPr sz="2400" dirty="0" err="1"/>
              <a:t>кода</a:t>
            </a:r>
            <a:endParaRPr sz="2400" dirty="0"/>
          </a:p>
          <a:p>
            <a:r>
              <a:rPr sz="2400" dirty="0" err="1"/>
              <a:t>Масштабируемость</a:t>
            </a:r>
            <a:endParaRPr sz="2400" dirty="0"/>
          </a:p>
          <a:p>
            <a:r>
              <a:rPr sz="2400" dirty="0" err="1"/>
              <a:t>Гибкость</a:t>
            </a:r>
            <a:endParaRPr sz="2400" dirty="0"/>
          </a:p>
          <a:p>
            <a:r>
              <a:rPr sz="2400" dirty="0" err="1"/>
              <a:t>Быстрая</a:t>
            </a:r>
            <a:r>
              <a:rPr sz="2400" dirty="0"/>
              <a:t> </a:t>
            </a:r>
            <a:r>
              <a:rPr sz="2400" dirty="0" err="1"/>
              <a:t>проверка</a:t>
            </a:r>
            <a:r>
              <a:rPr sz="2400" dirty="0"/>
              <a:t> </a:t>
            </a:r>
            <a:r>
              <a:rPr sz="2400" dirty="0" err="1"/>
              <a:t>гипотез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Расширения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Анализ</a:t>
            </a:r>
            <a:r>
              <a:rPr sz="2400" dirty="0"/>
              <a:t> </a:t>
            </a:r>
            <a:r>
              <a:rPr sz="2400" dirty="0" err="1"/>
              <a:t>логов</a:t>
            </a:r>
            <a:endParaRPr sz="2400" dirty="0"/>
          </a:p>
          <a:p>
            <a:r>
              <a:rPr sz="2400" dirty="0" err="1"/>
              <a:t>Обработка</a:t>
            </a:r>
            <a:r>
              <a:rPr sz="2400" dirty="0"/>
              <a:t> CSV/JSON</a:t>
            </a:r>
          </a:p>
          <a:p>
            <a:r>
              <a:rPr sz="2400" dirty="0" err="1"/>
              <a:t>Использование</a:t>
            </a:r>
            <a:r>
              <a:rPr sz="2400" dirty="0"/>
              <a:t> pandas/</a:t>
            </a:r>
            <a:r>
              <a:rPr sz="2400" dirty="0" err="1"/>
              <a:t>nltk</a:t>
            </a:r>
            <a:endParaRPr sz="2400" dirty="0"/>
          </a:p>
          <a:p>
            <a:r>
              <a:rPr sz="2400" dirty="0" err="1"/>
              <a:t>Расширенная</a:t>
            </a:r>
            <a:r>
              <a:rPr sz="2400" dirty="0"/>
              <a:t> </a:t>
            </a:r>
            <a:r>
              <a:rPr sz="2400" dirty="0" err="1"/>
              <a:t>фильтрация</a:t>
            </a:r>
            <a:r>
              <a:rPr sz="2400" dirty="0"/>
              <a:t> </a:t>
            </a:r>
            <a:r>
              <a:rPr sz="2400" dirty="0" err="1"/>
              <a:t>и</a:t>
            </a:r>
            <a:r>
              <a:rPr sz="2400" dirty="0"/>
              <a:t> </a:t>
            </a:r>
            <a:r>
              <a:rPr sz="2400" dirty="0" err="1"/>
              <a:t>сортировка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368</Words>
  <Application>Microsoft Macintosh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MapReduce-job на Python с использованием Hadoop Streaming Специалист по большим данным</vt:lpstr>
      <vt:lpstr>Введение в MapReduce</vt:lpstr>
      <vt:lpstr>Hadoop Streaming</vt:lpstr>
      <vt:lpstr>Общая схема работы</vt:lpstr>
      <vt:lpstr>Пример задачи — Подсчет слов</vt:lpstr>
      <vt:lpstr>Пример: mapper.py</vt:lpstr>
      <vt:lpstr>Пример: reducer.py</vt:lpstr>
      <vt:lpstr>Запуск джобы в Hadoop</vt:lpstr>
      <vt:lpstr>Результат работы</vt:lpstr>
      <vt:lpstr>Преимущества</vt:lpstr>
      <vt:lpstr>Расширения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Артем Голубничий</cp:lastModifiedBy>
  <cp:revision>4</cp:revision>
  <dcterms:created xsi:type="dcterms:W3CDTF">2013-01-27T09:14:16Z</dcterms:created>
  <dcterms:modified xsi:type="dcterms:W3CDTF">2025-04-22T04:03:33Z</dcterms:modified>
  <cp:category/>
</cp:coreProperties>
</file>