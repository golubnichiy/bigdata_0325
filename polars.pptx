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324" r:id="rId4"/>
    <p:sldId id="325" r:id="rId5"/>
    <p:sldId id="326" r:id="rId6"/>
    <p:sldId id="327" r:id="rId7"/>
    <p:sldId id="328" r:id="rId8"/>
    <p:sldId id="329" r:id="rId9"/>
    <p:sldId id="330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58" d="100"/>
          <a:sy n="58" d="100"/>
        </p:scale>
        <p:origin x="92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Обзор Bog Data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Polars</a:t>
            </a:r>
            <a:endParaRPr dirty="0"/>
          </a:p>
        </p:txBody>
      </p:sp>
      <p:sp>
        <p:nvSpPr>
          <p:cNvPr id="139" name="Специалист по большим данным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Специалист по большим данным</a:t>
            </a:r>
            <a:r>
              <a:rPr lang="en-US"/>
              <a:t> </a:t>
            </a:r>
            <a:endParaRPr lang="en-GB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DCB6FE-77B8-7AE0-B929-CE725C6E6623}"/>
              </a:ext>
            </a:extLst>
          </p:cNvPr>
          <p:cNvSpPr txBox="1"/>
          <p:nvPr/>
        </p:nvSpPr>
        <p:spPr>
          <a:xfrm>
            <a:off x="713678" y="676419"/>
            <a:ext cx="12942732" cy="44012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4000" dirty="0"/>
              <a:t>Polars </a:t>
            </a:r>
            <a:r>
              <a:rPr lang="en-GB" sz="4000" b="0" dirty="0"/>
              <a:t>— </a:t>
            </a:r>
            <a:r>
              <a:rPr lang="ru-RU" sz="4000" b="0" dirty="0"/>
              <a:t>это библиотека с открытым исходным кодом для обработки данных, известная как одно из самых быстрых решений для работы с данными на одном компьютере. Она предлагает хорошо структурированный, типизированный </a:t>
            </a:r>
            <a:r>
              <a:rPr lang="en-GB" sz="4000" b="0" dirty="0"/>
              <a:t>API, </a:t>
            </a:r>
            <a:r>
              <a:rPr lang="ru-RU" sz="4000" b="0" dirty="0"/>
              <a:t>который одновременно выразителен и прост в использовании.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9194FAA-8551-A329-DA7B-714ADB9EC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56410" y="1428519"/>
            <a:ext cx="10378302" cy="23884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22C74DB-6DFF-CBF6-E878-A341F044F75C}"/>
              </a:ext>
            </a:extLst>
          </p:cNvPr>
          <p:cNvSpPr txBox="1"/>
          <p:nvPr/>
        </p:nvSpPr>
        <p:spPr>
          <a:xfrm>
            <a:off x="713678" y="5782066"/>
            <a:ext cx="23321034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ru-RU" sz="4000" dirty="0"/>
              <a:t>Цель </a:t>
            </a:r>
            <a:r>
              <a:rPr lang="en-GB" sz="4000" dirty="0"/>
              <a:t>Polars </a:t>
            </a:r>
            <a:r>
              <a:rPr lang="en-GB" sz="4000" b="0" dirty="0"/>
              <a:t>— </a:t>
            </a:r>
            <a:r>
              <a:rPr lang="ru-RU" sz="4000" b="0" dirty="0"/>
              <a:t>предоставить сверхбыструю библиотеку </a:t>
            </a:r>
            <a:r>
              <a:rPr lang="en-GB" sz="4000" b="0" dirty="0" err="1"/>
              <a:t>DataFrame</a:t>
            </a:r>
            <a:r>
              <a:rPr lang="en-GB" sz="4000" b="0" dirty="0"/>
              <a:t>, </a:t>
            </a:r>
            <a:r>
              <a:rPr lang="ru-RU" sz="4000" b="0" dirty="0"/>
              <a:t>которая: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Использует все доступные ядра процессора вашей машины.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Оптимизирует запросы для минимизации лишней работы и ненужных выделений памяти.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Обрабатывает наборы данных, значительно превышающие объём доступной оперативной памяти.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Обладает последовательным и предсказуемым </a:t>
            </a:r>
            <a:r>
              <a:rPr lang="en-GB" sz="4000" b="0" dirty="0"/>
              <a:t>API.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Поддерживает строгое соответствие схеме (типы данных должны быть известны до выполнения запроса).</a:t>
            </a:r>
          </a:p>
          <a:p>
            <a:pPr algn="l"/>
            <a:endParaRPr lang="ru-RU" sz="4000" b="0" dirty="0"/>
          </a:p>
          <a:p>
            <a:pPr algn="l"/>
            <a:r>
              <a:rPr lang="en-GB" sz="4000" b="0" dirty="0"/>
              <a:t>Polars </a:t>
            </a:r>
            <a:r>
              <a:rPr lang="ru-RU" sz="4000" b="0" dirty="0"/>
              <a:t>написан на языке </a:t>
            </a:r>
            <a:r>
              <a:rPr lang="en-GB" sz="4000" b="0" dirty="0"/>
              <a:t>Rust, </a:t>
            </a:r>
            <a:r>
              <a:rPr lang="ru-RU" sz="4000" b="0" dirty="0"/>
              <a:t>что обеспечивает производительность уровня </a:t>
            </a:r>
            <a:r>
              <a:rPr lang="en-GB" sz="4000" b="0" dirty="0"/>
              <a:t>C/C++ </a:t>
            </a:r>
            <a:r>
              <a:rPr lang="ru-RU" sz="4000" b="0" dirty="0"/>
              <a:t>и позволяет полностью контролировать критически важные с точки зрения производительности части движка выполнения запросов.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48EA-B6FA-CAD2-7FA5-449DE29F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8E0F38D-51EA-3D3B-B768-D99562A7B9C2}"/>
              </a:ext>
            </a:extLst>
          </p:cNvPr>
          <p:cNvSpPr txBox="1"/>
          <p:nvPr/>
        </p:nvSpPr>
        <p:spPr>
          <a:xfrm>
            <a:off x="780585" y="66911"/>
            <a:ext cx="23328349" cy="136345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ru-RU" sz="4000" dirty="0"/>
              <a:t>Быстродействие</a:t>
            </a:r>
            <a:r>
              <a:rPr lang="ru-RU" sz="4000" b="0" dirty="0"/>
              <a:t>: Написана с нуля на </a:t>
            </a:r>
            <a:r>
              <a:rPr lang="en-GB" sz="4000" b="0" dirty="0"/>
              <a:t>Rust, </a:t>
            </a:r>
            <a:r>
              <a:rPr lang="ru-RU" sz="4000" b="0" dirty="0"/>
              <a:t>близко к «железу» и без внешних зависимостей.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Ввод/вывод (</a:t>
            </a:r>
            <a:r>
              <a:rPr lang="en-GB" sz="4000" dirty="0"/>
              <a:t>I/O)</a:t>
            </a:r>
            <a:r>
              <a:rPr lang="en-GB" sz="4000" b="0" dirty="0"/>
              <a:t>: </a:t>
            </a:r>
            <a:r>
              <a:rPr lang="ru-RU" sz="4000" b="0" dirty="0"/>
              <a:t>Полноценная поддержка всех распространённых источников и хранилищ данных: локальные файлы, облачные хранилища и базы данных.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Интуитивно понятный </a:t>
            </a:r>
            <a:r>
              <a:rPr lang="en-GB" sz="4000" dirty="0"/>
              <a:t>API</a:t>
            </a:r>
            <a:r>
              <a:rPr lang="en-GB" sz="4000" b="0" dirty="0"/>
              <a:t>: </a:t>
            </a:r>
            <a:r>
              <a:rPr lang="ru-RU" sz="4000" b="0" dirty="0"/>
              <a:t>Записывайте запросы так, как они задуманы логически. </a:t>
            </a:r>
            <a:r>
              <a:rPr lang="en-GB" sz="4000" b="0" dirty="0"/>
              <a:t>Polars </a:t>
            </a:r>
            <a:r>
              <a:rPr lang="ru-RU" sz="4000" b="0" dirty="0"/>
              <a:t>самостоятельно оптимизирует их выполнение с помощью оптимизатора запросов.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Обработка “на лету” (</a:t>
            </a:r>
            <a:r>
              <a:rPr lang="en-GB" sz="4000" dirty="0"/>
              <a:t>Out of Core)</a:t>
            </a:r>
            <a:r>
              <a:rPr lang="en-GB" sz="4000" b="0" dirty="0"/>
              <a:t>: </a:t>
            </a:r>
            <a:r>
              <a:rPr lang="ru-RU" sz="4000" b="0" dirty="0"/>
              <a:t>Потоковый </a:t>
            </a:r>
            <a:r>
              <a:rPr lang="en-GB" sz="4000" b="0" dirty="0"/>
              <a:t>API </a:t>
            </a:r>
            <a:r>
              <a:rPr lang="ru-RU" sz="4000" b="0" dirty="0"/>
              <a:t>позволяет обрабатывать данные без необходимости загружать весь объём в память.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Параллелизм</a:t>
            </a:r>
            <a:r>
              <a:rPr lang="ru-RU" sz="4000" b="0" dirty="0"/>
              <a:t>: Использует ресурсы машины по максимуму, автоматически распределяя нагрузку по всем доступным ядрам процессора.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Векторизованный движок запросов</a:t>
            </a:r>
            <a:r>
              <a:rPr lang="ru-RU" sz="4000" b="0" dirty="0"/>
              <a:t>: Высокоэффективное выполнение операций за счёт обработки целых блоков данных.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Поддержка </a:t>
            </a:r>
            <a:r>
              <a:rPr lang="en-GB" sz="4000" dirty="0"/>
              <a:t>GPU</a:t>
            </a:r>
            <a:r>
              <a:rPr lang="en-GB" sz="4000" b="0" dirty="0"/>
              <a:t>: </a:t>
            </a:r>
            <a:r>
              <a:rPr lang="ru-RU" sz="4000" b="0" dirty="0"/>
              <a:t>По желанию запросы могут исполняться на </a:t>
            </a:r>
            <a:r>
              <a:rPr lang="en-GB" sz="4000" b="0" dirty="0"/>
              <a:t>GPU NVIDIA </a:t>
            </a:r>
            <a:r>
              <a:rPr lang="ru-RU" sz="4000" b="0" dirty="0"/>
              <a:t>для максимальной производительности при работе с данными в памяти.</a:t>
            </a:r>
          </a:p>
          <a:p>
            <a:pPr algn="l"/>
            <a:endParaRPr lang="ru-RU" sz="4000" b="0" dirty="0"/>
          </a:p>
          <a:p>
            <a:pPr algn="l"/>
            <a:r>
              <a:rPr lang="ru-RU" sz="4000" dirty="0"/>
              <a:t>Поддержка </a:t>
            </a:r>
            <a:r>
              <a:rPr lang="en-GB" sz="4000" dirty="0"/>
              <a:t>Apache Arrow</a:t>
            </a:r>
            <a:r>
              <a:rPr lang="en-GB" sz="4000" b="0" dirty="0"/>
              <a:t>: </a:t>
            </a:r>
            <a:r>
              <a:rPr lang="ru-RU" sz="4000" b="0" dirty="0"/>
              <a:t>Может принимать и отдавать данные в формате </a:t>
            </a:r>
            <a:r>
              <a:rPr lang="en-GB" sz="4000" b="0" dirty="0"/>
              <a:t>Arrow, </a:t>
            </a:r>
            <a:r>
              <a:rPr lang="ru-RU" sz="4000" b="0" dirty="0"/>
              <a:t>зачастую с нулевым копированием (</a:t>
            </a:r>
            <a:r>
              <a:rPr lang="en-GB" sz="4000" b="0" dirty="0"/>
              <a:t>zero-copy).</a:t>
            </a:r>
            <a:endParaRPr lang="ru-RU" sz="4000" b="0" dirty="0"/>
          </a:p>
        </p:txBody>
      </p:sp>
    </p:spTree>
    <p:extLst>
      <p:ext uri="{BB962C8B-B14F-4D97-AF65-F5344CB8AC3E}">
        <p14:creationId xmlns:p14="http://schemas.microsoft.com/office/powerpoint/2010/main" val="16585015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3762-BED2-A13F-2F33-5A4292F1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7E5D7B-6628-1AE7-76C7-7DA529D459AC}"/>
              </a:ext>
            </a:extLst>
          </p:cNvPr>
          <p:cNvSpPr txBox="1"/>
          <p:nvPr/>
        </p:nvSpPr>
        <p:spPr>
          <a:xfrm>
            <a:off x="0" y="0"/>
            <a:ext cx="24384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9000" b="1" dirty="0"/>
              <a:t>Eager vs Lazy API </a:t>
            </a:r>
            <a:r>
              <a:rPr lang="ru-RU" sz="9000" b="1" dirty="0"/>
              <a:t>в </a:t>
            </a:r>
            <a:r>
              <a:rPr lang="en-GB" sz="9000" b="1" dirty="0"/>
              <a:t>Polars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B7230-9E9A-E3DB-6AD1-A21788FAC85E}"/>
              </a:ext>
            </a:extLst>
          </p:cNvPr>
          <p:cNvSpPr txBox="1"/>
          <p:nvPr/>
        </p:nvSpPr>
        <p:spPr>
          <a:xfrm>
            <a:off x="356839" y="2039068"/>
            <a:ext cx="23149931" cy="8710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ru-RU" sz="4000" dirty="0"/>
              <a:t>Что такое </a:t>
            </a:r>
            <a:r>
              <a:rPr lang="en-GB" sz="4000" dirty="0"/>
              <a:t>Eager API?</a:t>
            </a:r>
            <a:endParaRPr lang="en-GB" sz="4000" b="0" dirty="0"/>
          </a:p>
          <a:p>
            <a:pPr algn="l">
              <a:buNone/>
            </a:pPr>
            <a:r>
              <a:rPr lang="en-GB" sz="4000" b="0" dirty="0"/>
              <a:t>Eager (</a:t>
            </a:r>
            <a:r>
              <a:rPr lang="ru-RU" sz="4000" b="0" dirty="0"/>
              <a:t>жадный) подход означает, что все операции над данными выполняются немедленно, по мере их вызова — как в </a:t>
            </a:r>
            <a:r>
              <a:rPr lang="en-GB" sz="4000" b="0" dirty="0"/>
              <a:t>Pandas.</a:t>
            </a:r>
          </a:p>
          <a:p>
            <a:pPr algn="l">
              <a:buNone/>
            </a:pPr>
            <a:endParaRPr lang="en-GB" sz="4000" b="0" dirty="0"/>
          </a:p>
          <a:p>
            <a:pPr algn="l">
              <a:buNone/>
            </a:pPr>
            <a:r>
              <a:rPr lang="ru-RU" sz="4000" dirty="0"/>
              <a:t>Преимущества: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Простота: легко отлаживать и видеть результат сразу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Подходит для небольших и средних наборов данных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Поведение похоже на </a:t>
            </a:r>
            <a:r>
              <a:rPr lang="en-GB" sz="4000" b="0" dirty="0"/>
              <a:t>Pandas</a:t>
            </a:r>
          </a:p>
          <a:p>
            <a:pPr algn="l">
              <a:buNone/>
            </a:pPr>
            <a:endParaRPr lang="en-GB" sz="4000" b="0" dirty="0"/>
          </a:p>
          <a:p>
            <a:pPr algn="l">
              <a:buNone/>
            </a:pPr>
            <a:r>
              <a:rPr lang="ru-RU" sz="4000" dirty="0"/>
              <a:t>Недостатки: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Неэффективность при множественных операциях (каждый шаг — отдельный проход по данным)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Нет глобальной оптимизации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Используется больше памяти</a:t>
            </a:r>
          </a:p>
        </p:txBody>
      </p:sp>
    </p:spTree>
    <p:extLst>
      <p:ext uri="{BB962C8B-B14F-4D97-AF65-F5344CB8AC3E}">
        <p14:creationId xmlns:p14="http://schemas.microsoft.com/office/powerpoint/2010/main" val="443329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A35D-B72F-0525-6270-270BC48D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DA780-E67B-1670-2A70-AB34C5BE9641}"/>
              </a:ext>
            </a:extLst>
          </p:cNvPr>
          <p:cNvSpPr txBox="1"/>
          <p:nvPr/>
        </p:nvSpPr>
        <p:spPr>
          <a:xfrm>
            <a:off x="0" y="0"/>
            <a:ext cx="24384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9000" b="1" dirty="0"/>
              <a:t>Eager vs Lazy API </a:t>
            </a:r>
            <a:r>
              <a:rPr lang="ru-RU" sz="9000" b="1" dirty="0"/>
              <a:t>в </a:t>
            </a:r>
            <a:r>
              <a:rPr lang="en-GB" sz="9000" b="1" dirty="0"/>
              <a:t>Polars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30F5C-C561-2A46-A9FB-1894FF63BC77}"/>
              </a:ext>
            </a:extLst>
          </p:cNvPr>
          <p:cNvSpPr txBox="1"/>
          <p:nvPr/>
        </p:nvSpPr>
        <p:spPr>
          <a:xfrm>
            <a:off x="624468" y="2039068"/>
            <a:ext cx="23417561" cy="111722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ru-RU" sz="4000" b="1" dirty="0"/>
              <a:t>Что такое </a:t>
            </a:r>
            <a:r>
              <a:rPr lang="en-GB" sz="4000" b="1" dirty="0"/>
              <a:t>Lazy API?</a:t>
            </a:r>
            <a:endParaRPr lang="en-GB" sz="4000" dirty="0"/>
          </a:p>
          <a:p>
            <a:pPr algn="l">
              <a:buNone/>
            </a:pPr>
            <a:r>
              <a:rPr lang="en-GB" sz="4000" b="1" dirty="0"/>
              <a:t>Lazy</a:t>
            </a:r>
            <a:r>
              <a:rPr lang="en-GB" sz="4000" dirty="0"/>
              <a:t> (</a:t>
            </a:r>
            <a:r>
              <a:rPr lang="ru-RU" sz="4000" dirty="0"/>
              <a:t>отложенный) режим </a:t>
            </a:r>
            <a:r>
              <a:rPr lang="ru-RU" sz="4000" b="0" dirty="0"/>
              <a:t>— это ключевая особенность </a:t>
            </a:r>
            <a:r>
              <a:rPr lang="en-GB" sz="4000" b="0" dirty="0"/>
              <a:t>Polars. </a:t>
            </a:r>
            <a:r>
              <a:rPr lang="ru-RU" sz="4000" b="0" dirty="0"/>
              <a:t>Он не выполняет операции сразу, а строит граф вычислений. Затем, при вызове .</a:t>
            </a:r>
            <a:r>
              <a:rPr lang="en-GB" sz="4000" b="0" dirty="0"/>
              <a:t>collect(), Polars: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4000" b="0" dirty="0"/>
              <a:t>Анализирует граф всех операций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4000" b="0" dirty="0"/>
              <a:t>Оптимизирует порядок и структуру выполнения</a:t>
            </a:r>
          </a:p>
          <a:p>
            <a:pPr marL="742950" indent="-742950" algn="l">
              <a:buFont typeface="+mj-lt"/>
              <a:buAutoNum type="arabicPeriod"/>
            </a:pPr>
            <a:r>
              <a:rPr lang="ru-RU" sz="4000" b="0" dirty="0"/>
              <a:t>Выполняет запрос максимально эффективно (параллельно, с </a:t>
            </a:r>
            <a:r>
              <a:rPr lang="en-GB" sz="4000" b="0" dirty="0"/>
              <a:t>pushdown-</a:t>
            </a:r>
            <a:r>
              <a:rPr lang="ru-RU" sz="4000" b="0" dirty="0"/>
              <a:t>фильтрами, векторизацией и т.д.)</a:t>
            </a:r>
            <a:br>
              <a:rPr lang="ru-RU" sz="4000" dirty="0"/>
            </a:br>
            <a:endParaRPr lang="ru-RU" sz="4000" dirty="0"/>
          </a:p>
          <a:p>
            <a:pPr algn="l">
              <a:buNone/>
            </a:pPr>
            <a:r>
              <a:rPr lang="ru-RU" sz="4000" b="1" dirty="0"/>
              <a:t>Преимущества </a:t>
            </a:r>
            <a:r>
              <a:rPr lang="en-GB" sz="4000" b="1" dirty="0"/>
              <a:t>Lazy API: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Значительно более высокая производительность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Оптимизация чтения: фильтры применяются до загрузки данных (</a:t>
            </a:r>
            <a:r>
              <a:rPr lang="en-GB" sz="4000" b="0" dirty="0"/>
              <a:t>predicate pushdown)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Уменьшение использования памяти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Подходит для </a:t>
            </a:r>
            <a:r>
              <a:rPr lang="en-GB" sz="4000" b="0" dirty="0"/>
              <a:t>ETL-</a:t>
            </a:r>
            <a:r>
              <a:rPr lang="ru-RU" sz="4000" b="0" dirty="0"/>
              <a:t>процессов, обработки больших данных, производственных </a:t>
            </a:r>
            <a:r>
              <a:rPr lang="ru-RU" sz="4000" b="0" dirty="0" err="1"/>
              <a:t>пайплайнов</a:t>
            </a:r>
            <a:endParaRPr lang="ru-RU" sz="4000" b="0" dirty="0"/>
          </a:p>
          <a:p>
            <a:pPr algn="l">
              <a:buNone/>
            </a:pPr>
            <a:endParaRPr lang="ru-RU" sz="4000" dirty="0"/>
          </a:p>
          <a:p>
            <a:pPr algn="l">
              <a:buNone/>
            </a:pPr>
            <a:r>
              <a:rPr lang="ru-RU" sz="4000" b="1" dirty="0"/>
              <a:t>Недостатки: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Сложнее отлаживать пошагово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0" dirty="0"/>
              <a:t>Требует явного вызова .</a:t>
            </a:r>
            <a:r>
              <a:rPr lang="en-GB" sz="4000" b="0" dirty="0"/>
              <a:t>collect()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4000" b="0" dirty="0"/>
              <a:t>API </a:t>
            </a:r>
            <a:r>
              <a:rPr lang="ru-RU" sz="4000" b="0" dirty="0"/>
              <a:t>чуть более абстрактный, чем в </a:t>
            </a:r>
            <a:r>
              <a:rPr lang="en-GB" sz="4000" b="0" dirty="0"/>
              <a:t>Eager</a:t>
            </a:r>
          </a:p>
        </p:txBody>
      </p:sp>
    </p:spTree>
    <p:extLst>
      <p:ext uri="{BB962C8B-B14F-4D97-AF65-F5344CB8AC3E}">
        <p14:creationId xmlns:p14="http://schemas.microsoft.com/office/powerpoint/2010/main" val="5917355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1FB5-EC27-A125-D56D-A06BF0C3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96559-5AC5-7713-B226-3D594DE3F29B}"/>
              </a:ext>
            </a:extLst>
          </p:cNvPr>
          <p:cNvSpPr txBox="1"/>
          <p:nvPr/>
        </p:nvSpPr>
        <p:spPr>
          <a:xfrm>
            <a:off x="0" y="0"/>
            <a:ext cx="24384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9000" b="1" dirty="0"/>
              <a:t>Eager vs Lazy API </a:t>
            </a:r>
            <a:r>
              <a:rPr lang="ru-RU" sz="9000" b="1" dirty="0"/>
              <a:t>в </a:t>
            </a:r>
            <a:r>
              <a:rPr lang="en-GB" sz="9000" b="1" dirty="0"/>
              <a:t>Polars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6E5E2A-9DF8-5501-8B24-4E879016D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323203"/>
              </p:ext>
            </p:extLst>
          </p:nvPr>
        </p:nvGraphicFramePr>
        <p:xfrm>
          <a:off x="1689100" y="3476703"/>
          <a:ext cx="21005799" cy="6126480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7001933">
                  <a:extLst>
                    <a:ext uri="{9D8B030D-6E8A-4147-A177-3AD203B41FA5}">
                      <a16:colId xmlns:a16="http://schemas.microsoft.com/office/drawing/2014/main" val="2575167804"/>
                    </a:ext>
                  </a:extLst>
                </a:gridCol>
                <a:gridCol w="7001933">
                  <a:extLst>
                    <a:ext uri="{9D8B030D-6E8A-4147-A177-3AD203B41FA5}">
                      <a16:colId xmlns:a16="http://schemas.microsoft.com/office/drawing/2014/main" val="2182946529"/>
                    </a:ext>
                  </a:extLst>
                </a:gridCol>
                <a:gridCol w="7001933">
                  <a:extLst>
                    <a:ext uri="{9D8B030D-6E8A-4147-A177-3AD203B41FA5}">
                      <a16:colId xmlns:a16="http://schemas.microsoft.com/office/drawing/2014/main" val="2072750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 b="1"/>
                        <a:t>Особенность</a:t>
                      </a:r>
                      <a:endParaRPr lang="ru-RU" sz="4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4000" b="1"/>
                        <a:t>Eager API</a:t>
                      </a:r>
                      <a:endParaRPr lang="en-GB" sz="4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4000" b="1"/>
                        <a:t>Lazy API</a:t>
                      </a:r>
                      <a:endParaRPr lang="en-GB" sz="4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08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 dirty="0"/>
                        <a:t>Стиль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Императивный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Декларативный (похож на </a:t>
                      </a:r>
                      <a:r>
                        <a:rPr lang="en-GB" sz="4000"/>
                        <a:t>SQL)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06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Выполнение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Сразу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При .</a:t>
                      </a:r>
                      <a:r>
                        <a:rPr lang="en-GB" sz="4000"/>
                        <a:t>collect()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532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 dirty="0"/>
                        <a:t>Оптимизация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Есть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03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Использование памяти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Больше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Меньше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903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Поддержка потоков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800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Подходит для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/>
                        <a:t>Малых задач, отладки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4000" dirty="0"/>
                        <a:t>Больших </a:t>
                      </a:r>
                      <a:r>
                        <a:rPr lang="ru-RU" sz="4000" dirty="0" err="1"/>
                        <a:t>пайплайнов</a:t>
                      </a:r>
                      <a:r>
                        <a:rPr lang="ru-RU" sz="4000" dirty="0"/>
                        <a:t>, продакшена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066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4047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AAD8-3995-E1D2-9331-D6AEFF2D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5D2F6-B01B-3F39-1456-B16AA302649D}"/>
              </a:ext>
            </a:extLst>
          </p:cNvPr>
          <p:cNvSpPr txBox="1"/>
          <p:nvPr/>
        </p:nvSpPr>
        <p:spPr>
          <a:xfrm>
            <a:off x="0" y="0"/>
            <a:ext cx="24384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9000" b="1" dirty="0"/>
              <a:t>Eager Polars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A2792-5AEE-E025-5729-92DE6B55C2C7}"/>
              </a:ext>
            </a:extLst>
          </p:cNvPr>
          <p:cNvSpPr txBox="1"/>
          <p:nvPr/>
        </p:nvSpPr>
        <p:spPr>
          <a:xfrm>
            <a:off x="970155" y="2360232"/>
            <a:ext cx="21466098" cy="68634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import polars as pl</a:t>
            </a:r>
          </a:p>
          <a:p>
            <a:pPr algn="l"/>
            <a:endParaRPr lang="en-GB" sz="4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pl.read_csv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data.csv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result = (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endParaRPr lang="en-GB" sz="4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.filter(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("value1") &gt; 50)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with_columns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("value1") +</a:t>
            </a:r>
            <a:r>
              <a:rPr lang="ru-RU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("value2")).alias("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value_sum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"))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group_by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("category")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agg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value_sum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").mean())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print(result)</a:t>
            </a:r>
            <a:endParaRPr lang="en-RU" sz="4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5696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E29B-B230-EDB0-8F9F-CF0413BD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6EB21-9FB4-0979-2714-AD51BD30908A}"/>
              </a:ext>
            </a:extLst>
          </p:cNvPr>
          <p:cNvSpPr txBox="1"/>
          <p:nvPr/>
        </p:nvSpPr>
        <p:spPr>
          <a:xfrm>
            <a:off x="0" y="0"/>
            <a:ext cx="24384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9000" b="1" dirty="0"/>
              <a:t>Lazy</a:t>
            </a:r>
            <a:r>
              <a:rPr lang="en-GB" sz="9000" b="1" dirty="0"/>
              <a:t> Polars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77E18-3EE7-D853-86EC-B996429EE3D1}"/>
              </a:ext>
            </a:extLst>
          </p:cNvPr>
          <p:cNvSpPr txBox="1"/>
          <p:nvPr/>
        </p:nvSpPr>
        <p:spPr>
          <a:xfrm>
            <a:off x="970155" y="2360232"/>
            <a:ext cx="21466098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import polars as pl</a:t>
            </a:r>
          </a:p>
          <a:p>
            <a:pPr algn="l"/>
            <a:endParaRPr lang="en-GB" sz="4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df_lazy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pl.read_csv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data.csv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").lazy()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result = (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df_lazy</a:t>
            </a:r>
            <a:endParaRPr lang="en-GB" sz="4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.filter(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("value1") &gt; 50)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with_columns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("value1") + 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("value2")).alias("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value_sum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"))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group_by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("category")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agg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pl.col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GB" sz="4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value_sum</a:t>
            </a:r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").mean())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    .collect()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/>
            <a:r>
              <a:rPr lang="en-GB" sz="4000" b="0" dirty="0">
                <a:latin typeface="Consolas" panose="020B0609020204030204" pitchFamily="49" charset="0"/>
                <a:cs typeface="Consolas" panose="020B0609020204030204" pitchFamily="49" charset="0"/>
              </a:rPr>
              <a:t>print(result)</a:t>
            </a:r>
            <a:endParaRPr lang="en-RU" sz="4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994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7761-7B3E-2729-7CDB-9E6A9B80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0A9446-82B4-B4EC-A772-B43C47B31B65}"/>
              </a:ext>
            </a:extLst>
          </p:cNvPr>
          <p:cNvSpPr txBox="1"/>
          <p:nvPr/>
        </p:nvSpPr>
        <p:spPr>
          <a:xfrm>
            <a:off x="0" y="0"/>
            <a:ext cx="24384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9000" dirty="0"/>
              <a:t>Сравнение</a:t>
            </a:r>
            <a:endParaRPr lang="en-GB" sz="9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B46397-637B-D216-41FD-9C8FECA7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85" y="1655747"/>
            <a:ext cx="22274991" cy="109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8687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731</Words>
  <Application>Microsoft Macintosh PowerPoint</Application>
  <PresentationFormat>Custom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Consolas</vt:lpstr>
      <vt:lpstr>Helvetica Neue</vt:lpstr>
      <vt:lpstr>Helvetica Neue Light</vt:lpstr>
      <vt:lpstr>Helvetica Neue Medium</vt:lpstr>
      <vt:lpstr>White</vt:lpstr>
      <vt:lpstr>Polars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Big Data</dc:title>
  <cp:lastModifiedBy>Артем Голубничий</cp:lastModifiedBy>
  <cp:revision>8</cp:revision>
  <dcterms:modified xsi:type="dcterms:W3CDTF">2025-04-25T06:58:55Z</dcterms:modified>
</cp:coreProperties>
</file>